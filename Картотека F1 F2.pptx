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Robo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c4073420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c4073420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c4073420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c4073420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c4073420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c4073420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c4073420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cc4073420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c4073420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cc4073420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c4073420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cc4073420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c913d89af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cc913d89a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c913d89a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cc913d89a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c913d89a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cc913d89a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c40734206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cc4073420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c40734206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cc4073420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cc40734206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cc4073420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c40734206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cc40734206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c40734206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cc4073420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cc913d89a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cc913d89a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c40734206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cc4073420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cc913d89a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cc913d89a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cc40734206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cc4073420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c40734206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cc4073420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cc40734206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cc40734206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3C78D8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Картотека F1 F2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ru" sz="1800">
                <a:solidFill>
                  <a:schemeClr val="dk1"/>
                </a:solidFill>
              </a:rPr>
              <a:t>Единая система </a:t>
            </a:r>
            <a:r>
              <a:rPr lang="ru" sz="1800">
                <a:solidFill>
                  <a:schemeClr val="dk1"/>
                </a:solidFill>
              </a:rPr>
              <a:t>учета</a:t>
            </a:r>
            <a:r>
              <a:rPr lang="ru" sz="1800">
                <a:solidFill>
                  <a:schemeClr val="dk1"/>
                </a:solidFill>
              </a:rPr>
              <a:t> и анализа промышленных объектов и участников рынка автоматизации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Главная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5688025" y="1017725"/>
            <a:ext cx="3554100" cy="43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Дашборд: Предоставляет мгновенный срез данных: общее количество объектов, участников, систем и классов.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Быстрый доступ: Карточки разделов для навигации (Объекты, Участники, Классы, Отчёты).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Лента активности: Последние добавленные и </a:t>
            </a:r>
            <a:r>
              <a:rPr lang="ru" sz="1200">
                <a:solidFill>
                  <a:schemeClr val="dk1"/>
                </a:solidFill>
              </a:rPr>
              <a:t>измененные</a:t>
            </a:r>
            <a:r>
              <a:rPr lang="ru" sz="1200">
                <a:solidFill>
                  <a:schemeClr val="dk1"/>
                </a:solidFill>
              </a:rPr>
              <a:t> объекты для быстрого перехода к ним.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Цель: Ориентация пользователя в системе с первого экрана.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62" name="Google Shape;62;p14" title="дом.png"/>
          <p:cNvPicPr preferRelativeResize="0"/>
          <p:nvPr/>
        </p:nvPicPr>
        <p:blipFill rotWithShape="1">
          <a:blip r:embed="rId3">
            <a:alphaModFix/>
          </a:blip>
          <a:srcRect b="-10387" l="-817" r="-9571" t="0"/>
          <a:stretch/>
        </p:blipFill>
        <p:spPr>
          <a:xfrm>
            <a:off x="156850" y="1075375"/>
            <a:ext cx="6120448" cy="333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Объекты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6193200" y="830000"/>
            <a:ext cx="2950800" cy="44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Иерархия: Поддержка трёхуровневой структуры (Предприятие → Цех → Оборудование).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Интеллектуальный поиск: Фильтрация по уровню, категории, статусу. Поиск с исправлением опечаток (например, «мзпн» найдёт «МНПЗ»).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Визуализация: Карточки объектов с ключевыми параметрами, бейджами статуса и счётчиками связанных систем.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69" name="Google Shape;69;p15" title="объекты_лист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575" y="1210971"/>
            <a:ext cx="6085125" cy="33585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Детальная карточка объекта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5759000" y="967213"/>
            <a:ext cx="3152100" cy="39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Комплексный обзор: Объединяет технические характеристики, юридическую информацию и данные по автоматизации.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Связи: Отображение родительских и дочерних объектов.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Инвентаризация систем: Полный список автоматизированных систем (АСУТП, MES, SCADA), установленных на объекте, с возможностью перехода к их карточкам.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76" name="Google Shape;76;p16" title="объект_детал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775" y="967150"/>
            <a:ext cx="4928676" cy="397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Классы объектов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6367900" y="1152475"/>
            <a:ext cx="2675400" cy="38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638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5"/>
              <a:buChar char="●"/>
            </a:pPr>
            <a:r>
              <a:rPr lang="ru" sz="1225">
                <a:solidFill>
                  <a:schemeClr val="dk1"/>
                </a:solidFill>
              </a:rPr>
              <a:t>Типология: Разделение объектов по классам (например, Нефтеперерабатывающий завод, Установка кат. крекинга).</a:t>
            </a:r>
            <a:endParaRPr sz="122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25">
              <a:solidFill>
                <a:schemeClr val="dk1"/>
              </a:solidFill>
            </a:endParaRPr>
          </a:p>
          <a:p>
            <a:pPr indent="-30638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25"/>
              <a:buChar char="●"/>
            </a:pPr>
            <a:r>
              <a:rPr lang="ru" sz="1225">
                <a:solidFill>
                  <a:schemeClr val="dk1"/>
                </a:solidFill>
              </a:rPr>
              <a:t>Всего классов: На текущий момент в системе определён 9 классов.</a:t>
            </a:r>
            <a:endParaRPr sz="122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25">
              <a:solidFill>
                <a:schemeClr val="dk1"/>
              </a:solidFill>
            </a:endParaRPr>
          </a:p>
          <a:p>
            <a:pPr indent="-30638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25"/>
              <a:buChar char="●"/>
            </a:pPr>
            <a:r>
              <a:rPr lang="ru" sz="1225">
                <a:solidFill>
                  <a:schemeClr val="dk1"/>
                </a:solidFill>
              </a:rPr>
              <a:t>Управляемость: Классы позволяют группировать объекты для более точной аналитики и фильтрации.</a:t>
            </a:r>
            <a:endParaRPr sz="1225">
              <a:solidFill>
                <a:schemeClr val="dk1"/>
              </a:solidFill>
            </a:endParaRPr>
          </a:p>
        </p:txBody>
      </p:sp>
      <p:pic>
        <p:nvPicPr>
          <p:cNvPr id="83" name="Google Shape;83;p17" title="photo_11_2026-03-03_14-27-5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6056198" cy="402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Участники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5889900" y="1152475"/>
            <a:ext cx="2942400" cy="36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С</a:t>
            </a:r>
            <a:r>
              <a:rPr lang="ru" sz="1200">
                <a:solidFill>
                  <a:schemeClr val="dk1"/>
                </a:solidFill>
              </a:rPr>
              <a:t>егментация: Чёткое разделение компаний по типам: Вендоры, Интеграторы, Поставщики.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Табличное представление: Удобная таблица с основной информацией (название, ИНН, статус партнёрства).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Статистика ролей: Для каждой компании видно, в скольких проектах она участвует как вендор, а в скольких — как интегратор.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90" name="Google Shape;90;p18" title="photo_22_2026-03-03_14-27-5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525" y="1017725"/>
            <a:ext cx="5363274" cy="412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Детальная карточка участника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5694650" y="1152475"/>
            <a:ext cx="3137700" cy="35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Профиль: Контактные данные, сайт, менеджер, специализация по классам систем.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Портфолио: Список заказчиков и объектов внедрения с детализацией до конкретных систем.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Бизнес-информация: Финансовые показатели, сертификаты, реализованные проекты и отзывы клиентов.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97" name="Google Shape;97;p19" title="photo_18_2026-03-03_14-27-5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150" y="1017725"/>
            <a:ext cx="4807875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Детальная карточка участника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5401800" y="1152475"/>
            <a:ext cx="3430500" cy="35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670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0"/>
              <a:buChar char="●"/>
            </a:pPr>
            <a:r>
              <a:rPr lang="ru" sz="1230">
                <a:solidFill>
                  <a:schemeClr val="dk1"/>
                </a:solidFill>
              </a:rPr>
              <a:t>Продуктовый портфель: Перечень вендорских продуктов компании (например, DeltaV, SIMATIC).</a:t>
            </a:r>
            <a:endParaRPr sz="123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30">
              <a:solidFill>
                <a:schemeClr val="dk1"/>
              </a:solidFill>
            </a:endParaRPr>
          </a:p>
          <a:p>
            <a:pPr indent="-30670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30"/>
              <a:buChar char="●"/>
            </a:pPr>
            <a:r>
              <a:rPr lang="ru" sz="1230">
                <a:solidFill>
                  <a:schemeClr val="dk1"/>
                </a:solidFill>
              </a:rPr>
              <a:t>TCO Анализ: Данные по совокупной стоимости владения (Total Cost of Ownership) для продуктов.</a:t>
            </a:r>
            <a:endParaRPr sz="123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30">
              <a:solidFill>
                <a:schemeClr val="dk1"/>
              </a:solidFill>
            </a:endParaRPr>
          </a:p>
          <a:p>
            <a:pPr indent="-30670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30"/>
              <a:buChar char="●"/>
            </a:pPr>
            <a:r>
              <a:rPr lang="ru" sz="1230">
                <a:solidFill>
                  <a:schemeClr val="dk1"/>
                </a:solidFill>
              </a:rPr>
              <a:t>Взаимосвязи: Полное представление о роли компании на рынке.</a:t>
            </a:r>
            <a:endParaRPr sz="1230">
              <a:solidFill>
                <a:schemeClr val="dk1"/>
              </a:solidFill>
            </a:endParaRPr>
          </a:p>
        </p:txBody>
      </p:sp>
      <p:pic>
        <p:nvPicPr>
          <p:cNvPr id="104" name="Google Shape;104;p20" title="photo_19_2026-03-03_14-27-58.jpg"/>
          <p:cNvPicPr preferRelativeResize="0"/>
          <p:nvPr/>
        </p:nvPicPr>
        <p:blipFill rotWithShape="1">
          <a:blip r:embed="rId3">
            <a:alphaModFix/>
          </a:blip>
          <a:srcRect b="3052" l="0" r="0" t="3052"/>
          <a:stretch/>
        </p:blipFill>
        <p:spPr>
          <a:xfrm>
            <a:off x="438150" y="1017725"/>
            <a:ext cx="4807875" cy="400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Детальная карточка участника(отзывы)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5418075" y="1152475"/>
            <a:ext cx="3414300" cy="35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670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0"/>
              <a:buChar char="●"/>
            </a:pPr>
            <a:r>
              <a:rPr lang="ru" sz="1230">
                <a:solidFill>
                  <a:schemeClr val="dk1"/>
                </a:solidFill>
              </a:rPr>
              <a:t>Прозрачность: Раздел с отзывами клиентов о работе компании.</a:t>
            </a:r>
            <a:endParaRPr sz="123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30">
              <a:solidFill>
                <a:schemeClr val="dk1"/>
              </a:solidFill>
            </a:endParaRPr>
          </a:p>
          <a:p>
            <a:pPr indent="-306705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30"/>
              <a:buChar char="●"/>
            </a:pPr>
            <a:r>
              <a:rPr lang="ru" sz="1230">
                <a:solidFill>
                  <a:schemeClr val="dk1"/>
                </a:solidFill>
              </a:rPr>
              <a:t>Рейтинг: Визуальное отображение оценки (звёзды).</a:t>
            </a:r>
            <a:endParaRPr sz="123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30">
              <a:solidFill>
                <a:schemeClr val="dk1"/>
              </a:solidFill>
            </a:endParaRPr>
          </a:p>
          <a:p>
            <a:pPr indent="-306705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30"/>
              <a:buChar char="●"/>
            </a:pPr>
            <a:r>
              <a:rPr lang="ru" sz="1230">
                <a:solidFill>
                  <a:schemeClr val="dk1"/>
                </a:solidFill>
              </a:rPr>
              <a:t>Влияние: Формирует репутацию участника внутри системы.</a:t>
            </a:r>
            <a:endParaRPr sz="123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30">
              <a:solidFill>
                <a:schemeClr val="dk1"/>
              </a:solidFill>
            </a:endParaRPr>
          </a:p>
        </p:txBody>
      </p:sp>
      <p:pic>
        <p:nvPicPr>
          <p:cNvPr id="111" name="Google Shape;111;p21" title="photo_20_2026-03-03_14-27-58.jpg"/>
          <p:cNvPicPr preferRelativeResize="0"/>
          <p:nvPr/>
        </p:nvPicPr>
        <p:blipFill rotWithShape="1">
          <a:blip r:embed="rId3">
            <a:alphaModFix/>
          </a:blip>
          <a:srcRect b="0" l="5349" r="5349" t="0"/>
          <a:stretch/>
        </p:blipFill>
        <p:spPr>
          <a:xfrm>
            <a:off x="438150" y="1017725"/>
            <a:ext cx="4638225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Детальная карточка участника(редактирование)</a:t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5662125" y="1152475"/>
            <a:ext cx="3170100" cy="35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670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0"/>
              <a:buChar char="●"/>
            </a:pPr>
            <a:r>
              <a:rPr lang="ru" sz="1230">
                <a:solidFill>
                  <a:schemeClr val="dk1"/>
                </a:solidFill>
              </a:rPr>
              <a:t>Права доступа: Режим редактирования доступен для авторизованных редакторов и администраторов.</a:t>
            </a:r>
            <a:endParaRPr sz="123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30">
              <a:solidFill>
                <a:schemeClr val="dk1"/>
              </a:solidFill>
            </a:endParaRPr>
          </a:p>
          <a:p>
            <a:pPr indent="-306705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30"/>
              <a:buChar char="●"/>
            </a:pPr>
            <a:r>
              <a:rPr lang="ru" sz="1230">
                <a:solidFill>
                  <a:schemeClr val="dk1"/>
                </a:solidFill>
              </a:rPr>
              <a:t>Удобство: Интуитивные формы для изменения всех параметров объекта или участника.</a:t>
            </a:r>
            <a:endParaRPr sz="12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30">
              <a:solidFill>
                <a:schemeClr val="dk1"/>
              </a:solidFill>
            </a:endParaRPr>
          </a:p>
          <a:p>
            <a:pPr indent="-306705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30"/>
              <a:buChar char="●"/>
            </a:pPr>
            <a:r>
              <a:rPr lang="ru" sz="1230">
                <a:solidFill>
                  <a:schemeClr val="dk1"/>
                </a:solidFill>
              </a:rPr>
              <a:t>Контроль: Все изменения фиксируются в истории.</a:t>
            </a:r>
            <a:endParaRPr sz="1230">
              <a:solidFill>
                <a:schemeClr val="dk1"/>
              </a:solidFill>
            </a:endParaRPr>
          </a:p>
        </p:txBody>
      </p:sp>
      <p:pic>
        <p:nvPicPr>
          <p:cNvPr id="118" name="Google Shape;118;p22" title="photo_21_2026-03-03_14-27-58.jpg"/>
          <p:cNvPicPr preferRelativeResize="0"/>
          <p:nvPr/>
        </p:nvPicPr>
        <p:blipFill rotWithShape="1">
          <a:blip r:embed="rId3">
            <a:alphaModFix/>
          </a:blip>
          <a:srcRect b="0" l="12314" r="12322" t="0"/>
          <a:stretch/>
        </p:blipFill>
        <p:spPr>
          <a:xfrm>
            <a:off x="438150" y="1017725"/>
            <a:ext cx="4638224" cy="423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Вендоры</a:t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4978750" y="1152475"/>
            <a:ext cx="3853500" cy="33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Специализированный список: Выделенный раздел для просмотра и фильтрации компаний-вендоров.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Контекст: Позволяет быстро оценить представленность конкретного производителя на объектах.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25" name="Google Shape;125;p23" title="photo_1_2026-03-03_14-27-5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8" y="1152463"/>
            <a:ext cx="4192576" cy="3688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Детальная карточка вендоров</a:t>
            </a:r>
            <a:endParaRPr/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5174000" y="1152475"/>
            <a:ext cx="3658200" cy="33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Консолидация: Сводка по всем объектам, где используется оборудование вендора.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Продуктовая линейка: Подробный список продуктов и их внедрений.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Партнёрская сеть: Информация об интеграторах, работающих с продуктами этого вендора.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32" name="Google Shape;132;p24" title="photo_2_2026-03-03_14-27-5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4647949" cy="4128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Автоматизированные системы</a:t>
            </a:r>
            <a:endParaRPr/>
          </a:p>
        </p:txBody>
      </p:sp>
      <p:sp>
        <p:nvSpPr>
          <p:cNvPr id="138" name="Google Shape;138;p25"/>
          <p:cNvSpPr txBox="1"/>
          <p:nvPr>
            <p:ph idx="1" type="body"/>
          </p:nvPr>
        </p:nvSpPr>
        <p:spPr>
          <a:xfrm>
            <a:off x="5369250" y="1152475"/>
            <a:ext cx="3463200" cy="35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0">
              <a:solidFill>
                <a:schemeClr val="dk1"/>
              </a:solidFill>
            </a:endParaRPr>
          </a:p>
          <a:p>
            <a:pPr indent="-30670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30"/>
              <a:buChar char="●"/>
            </a:pPr>
            <a:r>
              <a:rPr lang="ru" sz="1230">
                <a:solidFill>
                  <a:schemeClr val="dk1"/>
                </a:solidFill>
              </a:rPr>
              <a:t>Общий список: Удобная таблица всех систем автоматизации в реестре.</a:t>
            </a:r>
            <a:endParaRPr sz="12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30">
              <a:solidFill>
                <a:schemeClr val="dk1"/>
              </a:solidFill>
            </a:endParaRPr>
          </a:p>
          <a:p>
            <a:pPr indent="-30670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30"/>
              <a:buChar char="●"/>
            </a:pPr>
            <a:r>
              <a:rPr lang="ru" sz="1230">
                <a:solidFill>
                  <a:schemeClr val="dk1"/>
                </a:solidFill>
              </a:rPr>
              <a:t>Атрибуция: Каждая система привязана к объекту, вендору и интегратору.</a:t>
            </a:r>
            <a:endParaRPr sz="12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30">
              <a:solidFill>
                <a:schemeClr val="dk1"/>
              </a:solidFill>
            </a:endParaRPr>
          </a:p>
          <a:p>
            <a:pPr indent="-30670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30"/>
              <a:buChar char="●"/>
            </a:pPr>
            <a:r>
              <a:rPr lang="ru" sz="1230">
                <a:solidFill>
                  <a:schemeClr val="dk1"/>
                </a:solidFill>
              </a:rPr>
              <a:t>Фильтрация: Быстрый поиск по классу системы, статусу или объекту установки.</a:t>
            </a:r>
            <a:endParaRPr sz="123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30">
              <a:solidFill>
                <a:schemeClr val="dk1"/>
              </a:solidFill>
            </a:endParaRPr>
          </a:p>
        </p:txBody>
      </p:sp>
      <p:pic>
        <p:nvPicPr>
          <p:cNvPr id="139" name="Google Shape;139;p25" title="photo_16_2026-03-03_14-27-5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700" y="1152475"/>
            <a:ext cx="4981024" cy="384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Детальная карточка автоматизированных систем</a:t>
            </a:r>
            <a:endParaRPr/>
          </a:p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6989175" y="1152475"/>
            <a:ext cx="1843200" cy="34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2825" y="1090725"/>
            <a:ext cx="4804701" cy="401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Аналитика</a:t>
            </a:r>
            <a:endParaRPr/>
          </a:p>
        </p:txBody>
      </p:sp>
      <p:sp>
        <p:nvSpPr>
          <p:cNvPr id="152" name="Google Shape;152;p27"/>
          <p:cNvSpPr txBox="1"/>
          <p:nvPr>
            <p:ph idx="1" type="body"/>
          </p:nvPr>
        </p:nvSpPr>
        <p:spPr>
          <a:xfrm>
            <a:off x="5141475" y="1152475"/>
            <a:ext cx="3690900" cy="34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Визуализация данных: Первый экран с отчётами и графиками.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Метрики: Общие показатели по уровням автоматизации и классам объектов.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53" name="Google Shape;153;p27" title="photo_14_2026-03-03_14-27-5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550" y="1017725"/>
            <a:ext cx="4342925" cy="3882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Аналитика</a:t>
            </a:r>
            <a:endParaRPr/>
          </a:p>
        </p:txBody>
      </p:sp>
      <p:sp>
        <p:nvSpPr>
          <p:cNvPr id="159" name="Google Shape;159;p28"/>
          <p:cNvSpPr txBox="1"/>
          <p:nvPr>
            <p:ph idx="1" type="body"/>
          </p:nvPr>
        </p:nvSpPr>
        <p:spPr>
          <a:xfrm>
            <a:off x="5141475" y="1152475"/>
            <a:ext cx="3690900" cy="34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Детализация: Более глубокие срезы данных, например, распределение систем по вендорам или объектам.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Тренды: Возможность отслеживать динамику внедрения автоматизации.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60" name="Google Shape;160;p28" title="photo_15_2026-03-03_14-27-58.jpg"/>
          <p:cNvPicPr preferRelativeResize="0"/>
          <p:nvPr/>
        </p:nvPicPr>
        <p:blipFill rotWithShape="1">
          <a:blip r:embed="rId3">
            <a:alphaModFix/>
          </a:blip>
          <a:srcRect b="1400" l="0" r="0" t="1400"/>
          <a:stretch/>
        </p:blipFill>
        <p:spPr>
          <a:xfrm>
            <a:off x="400550" y="1017725"/>
            <a:ext cx="4342925" cy="4000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Граф</a:t>
            </a:r>
            <a:endParaRPr/>
          </a:p>
        </p:txBody>
      </p:sp>
      <p:sp>
        <p:nvSpPr>
          <p:cNvPr id="166" name="Google Shape;166;p29"/>
          <p:cNvSpPr txBox="1"/>
          <p:nvPr>
            <p:ph idx="1" type="body"/>
          </p:nvPr>
        </p:nvSpPr>
        <p:spPr>
          <a:xfrm>
            <a:off x="5320450" y="1152475"/>
            <a:ext cx="3511800" cy="35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670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0"/>
              <a:buChar char="●"/>
            </a:pPr>
            <a:r>
              <a:rPr lang="ru" sz="1230">
                <a:solidFill>
                  <a:schemeClr val="dk1"/>
                </a:solidFill>
              </a:rPr>
              <a:t>Новый взгляд на данные: Представление всей экосистемы в виде интерактивного графа.</a:t>
            </a:r>
            <a:endParaRPr sz="12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30">
              <a:solidFill>
                <a:schemeClr val="dk1"/>
              </a:solidFill>
            </a:endParaRPr>
          </a:p>
          <a:p>
            <a:pPr indent="-30670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30"/>
              <a:buChar char="●"/>
            </a:pPr>
            <a:r>
              <a:rPr lang="ru" sz="1230">
                <a:solidFill>
                  <a:schemeClr val="dk1"/>
                </a:solidFill>
              </a:rPr>
              <a:t>Узлы и связи: Каждый объект, участник и система — это узел, связанный с другими.</a:t>
            </a:r>
            <a:endParaRPr sz="12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30">
              <a:solidFill>
                <a:schemeClr val="dk1"/>
              </a:solidFill>
            </a:endParaRPr>
          </a:p>
          <a:p>
            <a:pPr indent="-30670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30"/>
              <a:buChar char="●"/>
            </a:pPr>
            <a:r>
              <a:rPr lang="ru" sz="1230">
                <a:solidFill>
                  <a:schemeClr val="dk1"/>
                </a:solidFill>
              </a:rPr>
              <a:t>Навигация: Позволяет интуитивно исследовать связи, например, увидеть всех интеграторов, работающих на конкретном заводе.</a:t>
            </a:r>
            <a:endParaRPr sz="1230">
              <a:solidFill>
                <a:schemeClr val="dk1"/>
              </a:solidFill>
            </a:endParaRPr>
          </a:p>
        </p:txBody>
      </p:sp>
      <p:pic>
        <p:nvPicPr>
          <p:cNvPr id="167" name="Google Shape;167;p29" title="photo_4_2026-03-03_14-27-5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975" y="1017725"/>
            <a:ext cx="4572000" cy="40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Граф(визуал)</a:t>
            </a:r>
            <a:endParaRPr/>
          </a:p>
        </p:txBody>
      </p:sp>
      <p:sp>
        <p:nvSpPr>
          <p:cNvPr id="173" name="Google Shape;173;p30"/>
          <p:cNvSpPr txBox="1"/>
          <p:nvPr>
            <p:ph idx="1" type="body"/>
          </p:nvPr>
        </p:nvSpPr>
        <p:spPr>
          <a:xfrm>
            <a:off x="5222825" y="1152475"/>
            <a:ext cx="3609600" cy="36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Управление: Масштабирование, перетаскивание узлов, фильтрация по типу (показать только вендоров и системы).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Детализация: Клик по узлу открывает всплывающее окно с его краткой информацией и связями.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Легенда: Цветовое кодирование типов узлов для лёгкого восприятия.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74" name="Google Shape;174;p30" title="photo_5_2026-03-03_14-27-58.jpg"/>
          <p:cNvPicPr preferRelativeResize="0"/>
          <p:nvPr/>
        </p:nvPicPr>
        <p:blipFill rotWithShape="1">
          <a:blip r:embed="rId3">
            <a:alphaModFix/>
          </a:blip>
          <a:srcRect b="1607" l="0" r="0" t="1607"/>
          <a:stretch/>
        </p:blipFill>
        <p:spPr>
          <a:xfrm>
            <a:off x="178975" y="1017725"/>
            <a:ext cx="4572000" cy="405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Владельцы</a:t>
            </a:r>
            <a:endParaRPr/>
          </a:p>
        </p:txBody>
      </p:sp>
      <p:sp>
        <p:nvSpPr>
          <p:cNvPr id="180" name="Google Shape;180;p31"/>
          <p:cNvSpPr txBox="1"/>
          <p:nvPr>
            <p:ph idx="1" type="body"/>
          </p:nvPr>
        </p:nvSpPr>
        <p:spPr>
          <a:xfrm>
            <a:off x="5769525" y="1017725"/>
            <a:ext cx="3200400" cy="39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Раздел "Владельцы": Список компаний, владеющих промышленными объектами.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Связь с объектами: Позволяет группировать объекты по принадлежности к крупным холдингам (Группам компаний).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Пример:  Газпром нефть — владелец Московского НПЗ.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81" name="Google Shape;181;p31" title="photo_3_2026-03-03_14-27-5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929425"/>
            <a:ext cx="5082800" cy="409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Импорт и экспорт</a:t>
            </a:r>
            <a:endParaRPr/>
          </a:p>
        </p:txBody>
      </p:sp>
      <p:sp>
        <p:nvSpPr>
          <p:cNvPr id="187" name="Google Shape;187;p32"/>
          <p:cNvSpPr txBox="1"/>
          <p:nvPr>
            <p:ph idx="1" type="body"/>
          </p:nvPr>
        </p:nvSpPr>
        <p:spPr>
          <a:xfrm>
            <a:off x="6135575" y="907975"/>
            <a:ext cx="3008400" cy="41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638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5"/>
              <a:buChar char="●"/>
            </a:pPr>
            <a:r>
              <a:rPr lang="ru" sz="1225">
                <a:solidFill>
                  <a:schemeClr val="dk1"/>
                </a:solidFill>
              </a:rPr>
              <a:t>Форматы: Поддержка CSV и JSON.</a:t>
            </a:r>
            <a:endParaRPr sz="122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25">
              <a:solidFill>
                <a:schemeClr val="dk1"/>
              </a:solidFill>
            </a:endParaRPr>
          </a:p>
          <a:p>
            <a:pPr indent="-30638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25"/>
              <a:buChar char="●"/>
            </a:pPr>
            <a:r>
              <a:rPr lang="ru" sz="1225">
                <a:solidFill>
                  <a:schemeClr val="dk1"/>
                </a:solidFill>
              </a:rPr>
              <a:t>Экспорт: Выгрузка справочников (объекты, участники, системы) для внешнего анализа.</a:t>
            </a:r>
            <a:endParaRPr sz="122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25">
              <a:solidFill>
                <a:schemeClr val="dk1"/>
              </a:solidFill>
            </a:endParaRPr>
          </a:p>
          <a:p>
            <a:pPr indent="-30638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25"/>
              <a:buChar char="●"/>
            </a:pPr>
            <a:r>
              <a:rPr lang="ru" sz="1225">
                <a:solidFill>
                  <a:schemeClr val="dk1"/>
                </a:solidFill>
              </a:rPr>
              <a:t>Импорт: Загрузка данных из внешних систем. Умный импорт автоматически определяет тип данных по имени файла (например, participants_2026.csv). Доступны шаблоны для загрузки.</a:t>
            </a:r>
            <a:endParaRPr sz="1225">
              <a:solidFill>
                <a:schemeClr val="dk1"/>
              </a:solidFill>
            </a:endParaRPr>
          </a:p>
        </p:txBody>
      </p:sp>
      <p:pic>
        <p:nvPicPr>
          <p:cNvPr id="188" name="Google Shape;188;p32" title="photo_2026-02-28_20-30-0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950" y="1018300"/>
            <a:ext cx="5953632" cy="3553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Итоги</a:t>
            </a:r>
            <a:endParaRPr/>
          </a:p>
        </p:txBody>
      </p:sp>
      <p:sp>
        <p:nvSpPr>
          <p:cNvPr id="194" name="Google Shape;194;p33"/>
          <p:cNvSpPr txBox="1"/>
          <p:nvPr>
            <p:ph idx="1" type="body"/>
          </p:nvPr>
        </p:nvSpPr>
        <p:spPr>
          <a:xfrm>
            <a:off x="311700" y="1152475"/>
            <a:ext cx="3956100" cy="386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От разрозненных данных — к единой картине: Система устраняет информационную разобщенность, объединяя в себе данные о промышленных объектах, поставщиках и технологиях.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Прозрачность как основа: Наглядная визуализация связей (кто, где, с кем и на чём работает) позволяет увидеть полную картину рынка и снизить риски.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Аналитика для действий: Инструменты системы помогают не просто собирать данные, но и оценивать уровни автоматизации, выявлять лидеров и находить точки роста.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Готовность к развитию: Модульная архитектура и гибкая система классификации позволяют легко масштабировать решение под любые задачи отрасли.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95" name="Google Shape;195;p33"/>
          <p:cNvSpPr txBox="1"/>
          <p:nvPr/>
        </p:nvSpPr>
        <p:spPr>
          <a:xfrm>
            <a:off x="4214050" y="1017725"/>
            <a:ext cx="328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p33"/>
          <p:cNvSpPr txBox="1"/>
          <p:nvPr/>
        </p:nvSpPr>
        <p:spPr>
          <a:xfrm>
            <a:off x="4572000" y="1152475"/>
            <a:ext cx="4051500" cy="33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Снижение издержек: Чёткое понимание того, какое оборудование и от каких вендоров установлено на объектах, упрощает планирование ТОиР и закупок.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Управление компетенциями: Прозрачный рынок интеграторов и вендоров с историей проектов и отзывами позволяет выбирать надёжных партнёров.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Инвестиционная привлекательность: Детальная аналитика по уровням автоматизации (от L0 до L4) даёт объективную оценку технического оснащения активов.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